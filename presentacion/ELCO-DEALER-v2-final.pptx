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mnK32uh/aMLG7uejDQfjuVp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18a53a2f8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g3e18a53a2f8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18a53a2f8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hyperlink" Target="https://elco-dealer-web.netlify.app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hyperlink" Target="https://elco-dealer-web.netlify.app/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"/>
          <p:cNvCxnSpPr/>
          <p:nvPr/>
        </p:nvCxnSpPr>
        <p:spPr>
          <a:xfrm>
            <a:off x="1371600" y="-1097280"/>
            <a:ext cx="6400800" cy="6400800"/>
          </a:xfrm>
          <a:prstGeom prst="straightConnector1">
            <a:avLst/>
          </a:prstGeom>
          <a:solidFill>
            <a:srgbClr val="9B1C1C">
              <a:alpha val="10196"/>
            </a:srgbClr>
          </a:solidFill>
          <a:ln cap="flat" cmpd="sng" w="12700">
            <a:solidFill>
              <a:srgbClr val="9B1C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"/>
          <p:cNvSpPr/>
          <p:nvPr/>
        </p:nvSpPr>
        <p:spPr>
          <a:xfrm>
            <a:off x="0" y="0"/>
            <a:ext cx="2011680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0"/>
            <a:ext cx="27432" cy="1280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132320" y="0"/>
            <a:ext cx="2011680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16568" y="0"/>
            <a:ext cx="27432" cy="1280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5116068"/>
            <a:ext cx="2011680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3863340"/>
            <a:ext cx="27432" cy="1280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32320" y="5116068"/>
            <a:ext cx="2011680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16568" y="3863340"/>
            <a:ext cx="27432" cy="1280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9728" y="731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366760" y="731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C1C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9728" y="44805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366760" y="44805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C1C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-771024" y="86868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5800"/>
              <a:buFont typeface="Georgia"/>
              <a:buNone/>
            </a:pPr>
            <a:r>
              <a:rPr b="1" lang="en-US" sz="5800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ELCO—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-771024" y="1627632"/>
            <a:ext cx="8229600" cy="1188600"/>
          </a:xfrm>
          <a:prstGeom prst="rect">
            <a:avLst/>
          </a:prstGeom>
          <a:noFill/>
          <a:ln>
            <a:noFill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600"/>
              <a:buFont typeface="Georgia"/>
              <a:buNone/>
            </a:pPr>
            <a:r>
              <a:rPr b="1" lang="en-US" sz="86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DEALER</a:t>
            </a:r>
            <a:endParaRPr sz="8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560320" y="2907792"/>
            <a:ext cx="4023360" cy="228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299008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Sistema Automático de Reparto de Cartas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ASIGNATURA ELCO  ·  PROYECTO FINAL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280160" y="3749040"/>
            <a:ext cx="6583680" cy="1051560"/>
          </a:xfrm>
          <a:prstGeom prst="rect">
            <a:avLst/>
          </a:prstGeom>
          <a:solidFill>
            <a:srgbClr val="141414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463040" y="38221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Álvaro Poveda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463040" y="41056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Itziar Otaño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463040" y="43891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Cristina Rodríguez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754880" y="38221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Carlos González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754880" y="410565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Javier Carretero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754880" y="43891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Juan Salgado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1" title="Captura_de_pantalla_2026-05-13_005458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7233" y="729824"/>
            <a:ext cx="3033892" cy="208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450413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¿POR QUÉ AUTOMATIZAR EL REPARTO Y EL BARAJADO?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1255894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1401318"/>
            <a:ext cx="4480560" cy="97840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1413276"/>
            <a:ext cx="64008" cy="9784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58368" y="1454319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TIEMPO PERDIDO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58368" y="1755368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El reparto manual interrumpe el juego y alarga innecesariamente cada ronda.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2490404"/>
            <a:ext cx="4480560" cy="97840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2490404"/>
            <a:ext cx="64008" cy="9784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58368" y="25635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ERRORES DE DISTRIBUCIÓN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58368" y="2892740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La repartición humana genera errores que ralentizan y enturbian la partida.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3605972"/>
            <a:ext cx="4480560" cy="97840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3605972"/>
            <a:ext cx="64008" cy="9784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58368" y="36791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EXPERIENCIA DISCONTINUA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58368" y="4008308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Detener el juego para repartir rompe el ritmo e inmersión del jugador.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257800" y="1397275"/>
            <a:ext cx="3429000" cy="3187200"/>
          </a:xfrm>
          <a:prstGeom prst="rect">
            <a:avLst/>
          </a:prstGeom>
          <a:solidFill>
            <a:srgbClr val="0F0F0F"/>
          </a:solidFill>
          <a:ln cap="flat" cmpd="sng" w="1905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94960" y="156186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94960" y="1945914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ELCO-DEALER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852160" y="2585994"/>
            <a:ext cx="2240280" cy="2011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94960" y="2695722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REPARTO Y BARAJADO 100% AUTOMÁTICO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94960" y="3152922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CONSISTENTE, RÁPIDO Y REPETIBLE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94960" y="3610122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SIN ERRORES DE DISTRIBUCIÓN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94960" y="4067322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EXPERIENCIA FLUIDA EN CADA PARTIDA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4297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OBJETIVO Y FUNCIONALIDADES DEL SISTEMA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1270770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1379478"/>
            <a:ext cx="8229600" cy="713232"/>
          </a:xfrm>
          <a:prstGeom prst="rect">
            <a:avLst/>
          </a:prstGeom>
          <a:solidFill>
            <a:srgbClr val="150808"/>
          </a:solidFill>
          <a:ln cap="flat" cmpd="sng" w="19050">
            <a:solidFill>
              <a:srgbClr val="9B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1792" y="1470918"/>
            <a:ext cx="79004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Diseñar e implementar un sistema electrónico capaz de repartir automáticamente cartas a N jugadores, de forma precisa, configurable y controlada por el usuario.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2194560"/>
            <a:ext cx="2670048" cy="1143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2194560"/>
            <a:ext cx="2670048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94360" y="230428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INTERFAZ PANTALLA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94360" y="265176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Menú interactivo con pantalla LCD y botonera integrada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D4D4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273552" y="2194560"/>
            <a:ext cx="2670048" cy="1143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73552" y="2194560"/>
            <a:ext cx="2670048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410681" y="2312826"/>
            <a:ext cx="239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REPARTO MANUAL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410681" y="2660298"/>
            <a:ext cx="2395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Control directo mediante pulsador para uso flexible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089904" y="2194560"/>
            <a:ext cx="2670048" cy="1143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89904" y="2194560"/>
            <a:ext cx="2670048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267223" y="2312826"/>
            <a:ext cx="239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 JUGADORES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67223" y="2660298"/>
            <a:ext cx="2395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Número de participantes configurable desde la interfaz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3474720"/>
            <a:ext cx="2670048" cy="1143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3474720"/>
            <a:ext cx="2670048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94360" y="358444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RETORNO A REFERENCIA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4360" y="393192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Vuelta automática a posición inicial tras cada ciclo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73552" y="3474720"/>
            <a:ext cx="2670048" cy="1143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73552" y="3474720"/>
            <a:ext cx="2670048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410712" y="358444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VERIFICACIÓN SENSORES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410712" y="393192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Detección de carta entregada para validar cada reparto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089904" y="3474720"/>
            <a:ext cx="2670048" cy="1143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089904" y="3474720"/>
            <a:ext cx="2670048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27064" y="358444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-US" sz="12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EPARTO Y BARAJEO AUTOMÁTICO</a:t>
            </a:r>
            <a:endParaRPr b="1" sz="1250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227064" y="393192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Distribución carta a carta a cada jugador en orden de turno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1280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EVOLUCIÓN DEL PROYECTO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1170432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1252728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00"/>
              <a:buFont typeface="Calibri"/>
              <a:buNone/>
            </a:pPr>
            <a:r>
              <a:rPr b="1" lang="en-US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846320" y="12527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Calibri"/>
              <a:buNone/>
            </a:pPr>
            <a:r>
              <a:rPr b="1" lang="en-US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IMPLEMENTACIÓN Y VALIDACIÓN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1463040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1463040"/>
            <a:ext cx="384048" cy="76809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17099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32688" y="152704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SELECCIÓN DE IDEA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32688" y="18653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Evaluación de alternativas · elección del concepto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2350008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2350008"/>
            <a:ext cx="384048" cy="76809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7200" y="2596896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32688" y="24140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DISEÑO CONCEPTUAL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32688" y="275234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Definición de arquitectura, componentes y subsistemas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3236976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7200" y="3236976"/>
            <a:ext cx="384048" cy="76809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348386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32688" y="330098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DISEÑO CAD / MECÁNICO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32688" y="363931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Modelado 3D en OnShape · piezas para impresión FDM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4123944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4123944"/>
            <a:ext cx="384048" cy="76809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4370832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32688" y="418795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DISEÑO ELECTRÓNICO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32688" y="45262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Esquemáticos · selección de drivers, motores y sensores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46320" y="1463040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46320" y="1463040"/>
            <a:ext cx="384048" cy="7680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846320" y="17099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321808" y="152704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CONTROL / FSM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321808" y="18653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Máquina de estados implementada en Arduino Mega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46320" y="2350008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846320" y="2350008"/>
            <a:ext cx="384048" cy="7680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46320" y="2596896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321808" y="24140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PRUEBAS DE SUBSISTEMAS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321808" y="275234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Validación individual: motores, sensores, interfaz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46320" y="3236976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846320" y="3236976"/>
            <a:ext cx="384048" cy="7680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846320" y="348386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321808" y="330098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INTEGRACIÓN Y REDISEÑOS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321808" y="363931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Ensamblaje completo · correcciones iterativas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846320" y="4123944"/>
            <a:ext cx="4114800" cy="768096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846320" y="4123944"/>
            <a:ext cx="384048" cy="7680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846320" y="4370832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321808" y="418795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VALIDACIÓN FINAL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321808" y="45262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Demo funcional completa · prototipo operativo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DISEÑO MECÁNICO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1362456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" y="1490472"/>
            <a:ext cx="3657600" cy="2999232"/>
          </a:xfrm>
          <a:prstGeom prst="rect">
            <a:avLst/>
          </a:prstGeom>
          <a:solidFill>
            <a:srgbClr val="171717"/>
          </a:solidFill>
          <a:ln cap="flat" cmpd="sng" w="1905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297680" y="1490472"/>
            <a:ext cx="4389120" cy="78638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297680" y="2459736"/>
            <a:ext cx="2125980" cy="2029968"/>
          </a:xfrm>
          <a:prstGeom prst="rect">
            <a:avLst/>
          </a:prstGeom>
          <a:solidFill>
            <a:srgbClr val="171717"/>
          </a:solidFill>
          <a:ln cap="flat" cmpd="sng" w="1905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560820" y="2459736"/>
            <a:ext cx="2125980" cy="2029968"/>
          </a:xfrm>
          <a:prstGeom prst="rect">
            <a:avLst/>
          </a:prstGeom>
          <a:solidFill>
            <a:srgbClr val="171717"/>
          </a:solidFill>
          <a:ln cap="flat" cmpd="sng" w="1905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297680" y="1490472"/>
            <a:ext cx="54864" cy="786384"/>
          </a:xfrm>
          <a:prstGeom prst="rect">
            <a:avLst/>
          </a:prstGeom>
          <a:solidFill>
            <a:srgbClr val="B8860B"/>
          </a:solidFill>
          <a:ln cap="flat" cmpd="sng" w="9525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950" y="1673229"/>
            <a:ext cx="2428100" cy="224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8826" y="2560320"/>
            <a:ext cx="1703687" cy="140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1404" y="2728770"/>
            <a:ext cx="1924812" cy="107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4462272" y="1618488"/>
            <a:ext cx="4133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DISEÑO CAD EN ONSHAPE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462272" y="1874520"/>
            <a:ext cx="4096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PIEZAS FDM · DISEÑO MODULAR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462272" y="2084832"/>
            <a:ext cx="4096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BASE, GIRO Y REPARTIDOR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85216" y="4050792"/>
            <a:ext cx="3401568" cy="1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BARAJADOR / REPARTIDOR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85216" y="4251960"/>
            <a:ext cx="34015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Mecanismo principal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98264" y="4160520"/>
            <a:ext cx="19248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PLATO / DISCO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98264" y="4325112"/>
            <a:ext cx="1924812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giro</a:t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661404" y="4160520"/>
            <a:ext cx="19248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SOPORTE GIRATORIO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661404" y="4325112"/>
            <a:ext cx="1924812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Lazy</a:t>
            </a: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Susan CAD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DISEÑO ELECTRÓNICO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1170432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1298448"/>
            <a:ext cx="1517904" cy="960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1298448"/>
            <a:ext cx="1517904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57200" y="1417320"/>
            <a:ext cx="1517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ARDUINO MEGA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" y="1737360"/>
            <a:ext cx="1517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Controlador central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865376" y="166420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130552" y="1298448"/>
            <a:ext cx="1517904" cy="960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130552" y="1298448"/>
            <a:ext cx="1517904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130552" y="1417320"/>
            <a:ext cx="1517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130552" y="1737360"/>
            <a:ext cx="1517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L298N / A4988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538728" y="166420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803904" y="1298448"/>
            <a:ext cx="1517904" cy="960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803904" y="1298448"/>
            <a:ext cx="1517904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803904" y="1417320"/>
            <a:ext cx="1517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MOTORES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803904" y="1737360"/>
            <a:ext cx="1517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Paso a paso / DC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212080" y="166420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477256" y="1298448"/>
            <a:ext cx="1517904" cy="960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477256" y="1298448"/>
            <a:ext cx="1517904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477256" y="1417320"/>
            <a:ext cx="1517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SENSORES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77256" y="1737360"/>
            <a:ext cx="1517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Detección de carta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885432" y="166420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150608" y="1298448"/>
            <a:ext cx="1517904" cy="960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150608" y="1298448"/>
            <a:ext cx="1517904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150608" y="1417320"/>
            <a:ext cx="1517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PANTALLA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150608" y="1737360"/>
            <a:ext cx="1517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LCD + botonera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146" y="2441448"/>
            <a:ext cx="2089308" cy="142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4169" y="2459736"/>
            <a:ext cx="2631333" cy="142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0021" y="2441448"/>
            <a:ext cx="2314922" cy="142657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/>
          <p:nvPr/>
        </p:nvSpPr>
        <p:spPr>
          <a:xfrm>
            <a:off x="560831" y="3949507"/>
            <a:ext cx="2751982" cy="160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ESQUEMA INICIAL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60831" y="4115901"/>
            <a:ext cx="2751982" cy="14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Distribución base de conexiones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368039" y="3949507"/>
            <a:ext cx="2751982" cy="160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ESQUEMA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368039" y="4115901"/>
            <a:ext cx="2751982" cy="14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Versión completa con leyenda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092951" y="3949507"/>
            <a:ext cx="2751982" cy="160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CABLEADO REAL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092951" y="4115901"/>
            <a:ext cx="2751982" cy="14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Montaje físico del prototipo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4315968"/>
            <a:ext cx="8229600" cy="640080"/>
          </a:xfrm>
          <a:prstGeom prst="rect">
            <a:avLst/>
          </a:prstGeom>
          <a:solidFill>
            <a:srgbClr val="150808"/>
          </a:solidFill>
          <a:ln cap="flat" cmpd="sng" w="19050">
            <a:solidFill>
              <a:srgbClr val="9B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21792" y="4389120"/>
            <a:ext cx="7909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Núcleo del proyecto: </a:t>
            </a: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coordinación de motor paso a paso, sensor óptico, interfaz LCD y lógica de control en una arquitectura integrada sobre Arduino Mega.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CONTROL DEL SISTEMA — FSM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57200" y="1170432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46250" y="1390250"/>
            <a:ext cx="8229600" cy="3154800"/>
          </a:xfrm>
          <a:prstGeom prst="rect">
            <a:avLst/>
          </a:prstGeom>
          <a:solidFill>
            <a:srgbClr val="0E0E0E"/>
          </a:solidFill>
          <a:ln cap="flat" cmpd="sng" w="22850">
            <a:solidFill>
              <a:srgbClr val="B8860B"/>
            </a:solidFill>
            <a:prstDash val="dash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7" title="Flujograma ELCO DEALER simplificado.png"/>
          <p:cNvPicPr preferRelativeResize="0"/>
          <p:nvPr/>
        </p:nvPicPr>
        <p:blipFill rotWithShape="1">
          <a:blip r:embed="rId3">
            <a:alphaModFix/>
          </a:blip>
          <a:srcRect b="0" l="-3238" r="1746" t="0"/>
          <a:stretch/>
        </p:blipFill>
        <p:spPr>
          <a:xfrm>
            <a:off x="195314" y="1416575"/>
            <a:ext cx="8458507" cy="30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Georgia"/>
              <a:buNone/>
            </a:pPr>
            <a:r>
              <a:rPr b="1" lang="en-US" sz="3400" u="sng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FASES DE PRUEBA Y VALIDACIÓN</a:t>
            </a:r>
            <a:endParaRPr sz="3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1170432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57200" y="1307592"/>
            <a:ext cx="8229600" cy="69494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57200" y="1307592"/>
            <a:ext cx="1024128" cy="69494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1527048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600200" y="136245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INTERFAZ DE USUARIO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600200" y="1691640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Navegación LCD  ·  Respuesta pulsadores  ·  Configuración jugadores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492240" y="1463040"/>
            <a:ext cx="2057400" cy="402336"/>
          </a:xfrm>
          <a:prstGeom prst="rect">
            <a:avLst/>
          </a:prstGeom>
          <a:solidFill>
            <a:srgbClr val="0D2A0D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510528" y="1463040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VALIDADO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2075688"/>
            <a:ext cx="8229600" cy="69494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7200" y="2075688"/>
            <a:ext cx="1024128" cy="69494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57200" y="229514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600200" y="213055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SISTEMA DE SENSORES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600200" y="2459736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Detección de carta  ·  Umbral de sensibilidad  ·  Falsos positivos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492240" y="2231136"/>
            <a:ext cx="2057400" cy="402336"/>
          </a:xfrm>
          <a:prstGeom prst="rect">
            <a:avLst/>
          </a:prstGeom>
          <a:solidFill>
            <a:srgbClr val="0D2A0D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510528" y="2231136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VALIDADO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57200" y="2843784"/>
            <a:ext cx="8229600" cy="69494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7200" y="2843784"/>
            <a:ext cx="1024128" cy="69494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57200" y="306324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600200" y="289864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SISTEMA DE MOTORES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600200" y="3227832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Control paso a paso  ·  Velocidad de reparto  ·  Posicionamiento angular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492240" y="2999232"/>
            <a:ext cx="2057400" cy="402336"/>
          </a:xfrm>
          <a:prstGeom prst="rect">
            <a:avLst/>
          </a:prstGeom>
          <a:solidFill>
            <a:srgbClr val="0D2A0D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492253" y="2999257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VALIDADO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57200" y="3611880"/>
            <a:ext cx="8229600" cy="69494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57200" y="3611880"/>
            <a:ext cx="1024128" cy="69494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57200" y="383133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600200" y="366674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INTEGRACIÓN GLOBAL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600200" y="3995928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Coordinación subsistemas  ·  FSM ciclo completo  ·  Pruebas de estrés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57200" y="4379976"/>
            <a:ext cx="8229600" cy="69494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57200" y="4379976"/>
            <a:ext cx="1024128" cy="69494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57200" y="4599432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FASE 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600200" y="44348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VALIDACIÓN FINAL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600200" y="4764024"/>
            <a:ext cx="448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Reparto completo N jugadores  ·  Ciclos repetidos  ·  Demo funcional grabada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487652" y="3703332"/>
            <a:ext cx="2057400" cy="402300"/>
          </a:xfrm>
          <a:prstGeom prst="rect">
            <a:avLst/>
          </a:prstGeom>
          <a:solidFill>
            <a:srgbClr val="672020"/>
          </a:solidFill>
          <a:ln cap="flat" cmpd="sng" w="12700">
            <a:solidFill>
              <a:srgbClr val="9B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492252" y="4535432"/>
            <a:ext cx="2057400" cy="402300"/>
          </a:xfrm>
          <a:prstGeom prst="rect">
            <a:avLst/>
          </a:prstGeom>
          <a:solidFill>
            <a:srgbClr val="672020"/>
          </a:solidFill>
          <a:ln cap="flat" cmpd="sng" w="12700">
            <a:solidFill>
              <a:srgbClr val="9B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EVALUACIÓN TÉCNICA DEL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57200" y="1227582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66928" y="133502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CRITERIO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898648" y="13350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VALORACIÓN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458968" y="1335024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7200" y="1682496"/>
            <a:ext cx="8229600" cy="420624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66928" y="17556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DIFICULTAD DE DESARROLLO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898648" y="1769361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⭐️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⭐️⭐️⭐️⭐️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458968" y="175564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Integración mecánica + electrónica + software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57200" y="2130552"/>
            <a:ext cx="8229600" cy="420624"/>
          </a:xfrm>
          <a:prstGeom prst="rect">
            <a:avLst/>
          </a:prstGeom>
          <a:solidFill>
            <a:srgbClr val="131313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66928" y="220370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CONSUMO ENERGÉTICO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898648" y="220370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⭐️</a:t>
            </a:r>
            <a:endParaRPr i="1" sz="950">
              <a:solidFill>
                <a:srgbClr val="B886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458968" y="220370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Estimado en pruebas de subsistema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2578608"/>
            <a:ext cx="8229600" cy="420624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66928" y="26517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COSTE DE PRODUCCIÓN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2898648" y="26517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21,57€</a:t>
            </a:r>
            <a:endParaRPr i="1" sz="950">
              <a:solidFill>
                <a:srgbClr val="B886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458968" y="265176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Componentes COTS + impresión 3D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57200" y="3026664"/>
            <a:ext cx="8229600" cy="420624"/>
          </a:xfrm>
          <a:prstGeom prst="rect">
            <a:avLst/>
          </a:prstGeom>
          <a:solidFill>
            <a:srgbClr val="131313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66928" y="309981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NIVEL DE ELECTRÓNICA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2898648" y="30998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458968" y="3099816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Arduino Mega + drivers + sensores + LCD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57200" y="3474720"/>
            <a:ext cx="8229600" cy="420624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66928" y="35478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COMPLEJIDAD DE CONTROL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2898648" y="3547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Alta — FSM implementada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458968" y="354787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Múltiples estados y transiciones condicionales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57200" y="3922776"/>
            <a:ext cx="8229600" cy="420624"/>
          </a:xfrm>
          <a:prstGeom prst="rect">
            <a:avLst/>
          </a:prstGeom>
          <a:solidFill>
            <a:srgbClr val="131313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66928" y="399592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POSIBILIDAD DE ESCALADO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2898648" y="39959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58968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Más jugadores, más barajas, conectividad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66928" y="444398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898648" y="44439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50"/>
              <a:buFont typeface="Calibri"/>
              <a:buNone/>
            </a:pPr>
            <a:r>
              <a:rPr i="1"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i="1" sz="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458968" y="444398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Evaluación durante la demo final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DIFICULTADES Y FUTURAS IMPLEMENTACIONES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7200" y="1205425"/>
            <a:ext cx="8229600" cy="137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57200" y="1298448"/>
            <a:ext cx="3931920" cy="3246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57200" y="1298448"/>
            <a:ext cx="3931920" cy="4389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48640" y="1371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DIFICULTADES ENCONTRADAS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548640" y="173736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Integración simultánea de subsistemas mecánicos y electrónicos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48640" y="224028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Calibración de sensores ópticos para detección fiable de carta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48640" y="274320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Sincronización de la FSM con los tiempos de actuación motora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663440" y="1298448"/>
            <a:ext cx="4023360" cy="32461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663440" y="1298448"/>
            <a:ext cx="4023360" cy="43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754880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FUTURAS IMPLEMENTACIONES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54880" y="1737360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Conectividad inalámbrica — </a:t>
            </a: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Integración Bluetooth o WiFi para control desde app móvil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754880" y="2286000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Reconocimiento de juego — </a:t>
            </a: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Adaptar el reparto automático a distintos tipos de juegos de cartas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754880" y="2834640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Diseño de producto final — </a:t>
            </a: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Reducción de coste y tamaño para versión comercializable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754880" y="3383280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Escalado de jugadores — </a:t>
            </a: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Ampliar el sistema para soportar configuraciones de más participantes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754880" y="3931920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Integración de sensores </a:t>
            </a:r>
            <a:r>
              <a:rPr b="1" lang="en-US" sz="10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000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Sustituir la selección del número de jugadores y el sistema de imanes para el sensor home por sensores de cada jugador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7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9" title="Captura de pantalla 2026-05-13 0057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01" y="465503"/>
            <a:ext cx="7647724" cy="41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9"/>
          <p:cNvCxnSpPr/>
          <p:nvPr/>
        </p:nvCxnSpPr>
        <p:spPr>
          <a:xfrm>
            <a:off x="914400" y="-914400"/>
            <a:ext cx="7315200" cy="7315200"/>
          </a:xfrm>
          <a:prstGeom prst="straightConnector1">
            <a:avLst/>
          </a:prstGeom>
          <a:solidFill>
            <a:srgbClr val="9B1C1C">
              <a:alpha val="7843"/>
            </a:srgbClr>
          </a:solidFill>
          <a:ln cap="flat" cmpd="sng" w="12700">
            <a:solidFill>
              <a:srgbClr val="9B1C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9"/>
          <p:cNvSpPr/>
          <p:nvPr/>
        </p:nvSpPr>
        <p:spPr>
          <a:xfrm>
            <a:off x="109728" y="731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366760" y="731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C1C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820625" y="4273850"/>
            <a:ext cx="331200" cy="206700"/>
          </a:xfrm>
          <a:prstGeom prst="rect">
            <a:avLst/>
          </a:prstGeom>
          <a:noFill/>
          <a:ln>
            <a:noFill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5400"/>
              <a:buFont typeface="Georgia"/>
              <a:buNone/>
            </a:pPr>
            <a:r>
              <a:rPr b="1" lang="en-US" sz="7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WEB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09728" y="44805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8366760" y="44805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C1C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707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3e18a53a2f8_0_3" title="Captura de pantalla 2026-05-13 0057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01" y="465503"/>
            <a:ext cx="7647724" cy="41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g3e18a53a2f8_0_3"/>
          <p:cNvCxnSpPr/>
          <p:nvPr/>
        </p:nvCxnSpPr>
        <p:spPr>
          <a:xfrm>
            <a:off x="914400" y="-914400"/>
            <a:ext cx="7315200" cy="7315200"/>
          </a:xfrm>
          <a:prstGeom prst="straightConnector1">
            <a:avLst/>
          </a:prstGeom>
          <a:solidFill>
            <a:srgbClr val="9B1C1C">
              <a:alpha val="7840"/>
            </a:srgbClr>
          </a:solidFill>
          <a:ln cap="flat" cmpd="sng" w="12700">
            <a:solidFill>
              <a:srgbClr val="9B1C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g3e18a53a2f8_0_3"/>
          <p:cNvSpPr/>
          <p:nvPr/>
        </p:nvSpPr>
        <p:spPr>
          <a:xfrm>
            <a:off x="109728" y="73152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e18a53a2f8_0_3"/>
          <p:cNvSpPr/>
          <p:nvPr/>
        </p:nvSpPr>
        <p:spPr>
          <a:xfrm>
            <a:off x="8366760" y="73152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C1C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18a53a2f8_0_3"/>
          <p:cNvSpPr/>
          <p:nvPr/>
        </p:nvSpPr>
        <p:spPr>
          <a:xfrm>
            <a:off x="7820625" y="4273850"/>
            <a:ext cx="331200" cy="206700"/>
          </a:xfrm>
          <a:prstGeom prst="rect">
            <a:avLst/>
          </a:prstGeom>
          <a:noFill/>
          <a:ln>
            <a:noFill/>
          </a:ln>
          <a:effectLst>
            <a:outerShdw blurRad="152400" rotWithShape="0" algn="bl" dir="8100000" dist="38100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5400"/>
              <a:buFont typeface="Georgia"/>
              <a:buNone/>
            </a:pPr>
            <a:r>
              <a:rPr b="1" lang="en-US" sz="7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WEB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18a53a2f8_0_3"/>
          <p:cNvSpPr/>
          <p:nvPr/>
        </p:nvSpPr>
        <p:spPr>
          <a:xfrm>
            <a:off x="109728" y="448056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18a53a2f8_0_3"/>
          <p:cNvSpPr/>
          <p:nvPr/>
        </p:nvSpPr>
        <p:spPr>
          <a:xfrm>
            <a:off x="8366760" y="448056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C1C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9B1C1C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e18a53a2f8_0_3"/>
          <p:cNvSpPr/>
          <p:nvPr/>
        </p:nvSpPr>
        <p:spPr>
          <a:xfrm>
            <a:off x="685713" y="392575"/>
            <a:ext cx="7841100" cy="4244100"/>
          </a:xfrm>
          <a:prstGeom prst="rect">
            <a:avLst/>
          </a:prstGeom>
          <a:solidFill>
            <a:srgbClr val="000000">
              <a:alpha val="335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g3e18a53a2f8_0_3" title="https_elco-dealer-web_netlify_app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826965" y="826714"/>
            <a:ext cx="3490074" cy="34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2026-04-27T17:43:34Z</dcterms:created>
  <dc:creator>ELCO</dc:creator>
</cp:coreProperties>
</file>